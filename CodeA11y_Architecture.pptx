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88952" cy="8869680"/>
  <p:notesSz cx="886968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097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F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CodeA11y — Layered Architecture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292608" y="56692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Human-in-the-loop, agentic accessibility platform · Generate → Verify → Evidence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20040" y="941832"/>
            <a:ext cx="164592" cy="164592"/>
          </a:xfrm>
          <a:prstGeom prst="rect">
            <a:avLst/>
          </a:prstGeom>
          <a:solidFill>
            <a:srgbClr val="2F6BFF"/>
          </a:solidFill>
          <a:ln/>
        </p:spPr>
      </p:sp>
      <p:sp>
        <p:nvSpPr>
          <p:cNvPr id="5" name="Text 3"/>
          <p:cNvSpPr/>
          <p:nvPr/>
        </p:nvSpPr>
        <p:spPr>
          <a:xfrm>
            <a:off x="521208" y="89611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410005" y="941832"/>
            <a:ext cx="164592" cy="164592"/>
          </a:xfrm>
          <a:prstGeom prst="rect">
            <a:avLst/>
          </a:prstGeom>
          <a:solidFill>
            <a:srgbClr val="5B4BE0"/>
          </a:solidFill>
          <a:ln/>
        </p:spPr>
      </p:sp>
      <p:sp>
        <p:nvSpPr>
          <p:cNvPr id="7" name="Text 5"/>
          <p:cNvSpPr/>
          <p:nvPr/>
        </p:nvSpPr>
        <p:spPr>
          <a:xfrm>
            <a:off x="1611173" y="89611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Processing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99893" y="941832"/>
            <a:ext cx="164592" cy="164592"/>
          </a:xfrm>
          <a:prstGeom prst="rect">
            <a:avLst/>
          </a:prstGeom>
          <a:solidFill>
            <a:srgbClr val="1F7A6E"/>
          </a:solidFill>
          <a:ln/>
        </p:spPr>
      </p:sp>
      <p:sp>
        <p:nvSpPr>
          <p:cNvPr id="9" name="Text 7"/>
          <p:cNvSpPr/>
          <p:nvPr/>
        </p:nvSpPr>
        <p:spPr>
          <a:xfrm>
            <a:off x="3001061" y="89611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964838" y="941832"/>
            <a:ext cx="164592" cy="164592"/>
          </a:xfrm>
          <a:prstGeom prst="rect">
            <a:avLst/>
          </a:prstGeom>
          <a:solidFill>
            <a:srgbClr val="3C4859"/>
          </a:solidFill>
          <a:ln/>
        </p:spPr>
      </p:sp>
      <p:sp>
        <p:nvSpPr>
          <p:cNvPr id="11" name="Text 9"/>
          <p:cNvSpPr/>
          <p:nvPr/>
        </p:nvSpPr>
        <p:spPr>
          <a:xfrm>
            <a:off x="4166006" y="89611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&amp; Evidence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1371600"/>
            <a:ext cx="11640312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7780">
            <a:solidFill>
              <a:srgbClr val="2F6B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371600"/>
            <a:ext cx="530352" cy="1143000"/>
          </a:xfrm>
          <a:prstGeom prst="roundRect">
            <a:avLst>
              <a:gd name="adj" fmla="val 17241"/>
            </a:avLst>
          </a:prstGeom>
          <a:solidFill>
            <a:srgbClr val="2F6BFF"/>
          </a:solidFill>
          <a:ln/>
        </p:spPr>
      </p:sp>
      <p:sp>
        <p:nvSpPr>
          <p:cNvPr id="14" name="Shape 12"/>
          <p:cNvSpPr/>
          <p:nvPr/>
        </p:nvSpPr>
        <p:spPr>
          <a:xfrm>
            <a:off x="694944" y="1371600"/>
            <a:ext cx="109728" cy="1143000"/>
          </a:xfrm>
          <a:prstGeom prst="rect">
            <a:avLst/>
          </a:prstGeom>
          <a:solidFill>
            <a:srgbClr val="2F6BFF"/>
          </a:solidFill>
          <a:ln/>
        </p:spPr>
      </p:sp>
      <p:sp>
        <p:nvSpPr>
          <p:cNvPr id="15" name="Text 13"/>
          <p:cNvSpPr/>
          <p:nvPr/>
        </p:nvSpPr>
        <p:spPr>
          <a:xfrm rot="16200000">
            <a:off x="-22860" y="1668780"/>
            <a:ext cx="1143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32688" y="1499616"/>
            <a:ext cx="2562606" cy="886968"/>
          </a:xfrm>
          <a:prstGeom prst="roundRect">
            <a:avLst>
              <a:gd name="adj" fmla="val 7216"/>
            </a:avLst>
          </a:prstGeom>
          <a:solidFill>
            <a:srgbClr val="FFFFFF"/>
          </a:solidFill>
          <a:ln w="12700">
            <a:solidFill>
              <a:srgbClr val="DDE2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1560" y="1591056"/>
            <a:ext cx="232486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Code Extension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51560" y="2066544"/>
            <a:ext cx="2324862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5A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Triggers scans, compiles project files, invokes the AI binary.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78174" y="1499616"/>
            <a:ext cx="2562606" cy="886968"/>
          </a:xfrm>
          <a:prstGeom prst="roundRect">
            <a:avLst>
              <a:gd name="adj" fmla="val 7216"/>
            </a:avLst>
          </a:prstGeom>
          <a:solidFill>
            <a:srgbClr val="FFFFFF"/>
          </a:solidFill>
          <a:ln w="12700">
            <a:solidFill>
              <a:srgbClr val="DDE2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97046" y="1591056"/>
            <a:ext cx="232486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In-IDE Diagnostics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797046" y="2066544"/>
            <a:ext cx="2324862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5A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Violations grouped by severity and WCAG success criteria.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423660" y="1499616"/>
            <a:ext cx="2562606" cy="886968"/>
          </a:xfrm>
          <a:prstGeom prst="roundRect">
            <a:avLst>
              <a:gd name="adj" fmla="val 7216"/>
            </a:avLst>
          </a:prstGeom>
          <a:solidFill>
            <a:srgbClr val="FFFFFF"/>
          </a:solidFill>
          <a:ln w="12700">
            <a:solidFill>
              <a:srgbClr val="DDE2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42532" y="1591056"/>
            <a:ext cx="232486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Diff-based Fix Review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542532" y="2066544"/>
            <a:ext cx="2324862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5A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Before/after edits with guardrail verdicts &amp; runtime screenshots; edit, regenerate, approve.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9169146" y="1499616"/>
            <a:ext cx="2562606" cy="886968"/>
          </a:xfrm>
          <a:prstGeom prst="roundRect">
            <a:avLst>
              <a:gd name="adj" fmla="val 7216"/>
            </a:avLst>
          </a:prstGeom>
          <a:solidFill>
            <a:srgbClr val="FFFFFF"/>
          </a:solidFill>
          <a:ln w="12700">
            <a:solidFill>
              <a:srgbClr val="DDE2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288018" y="1591056"/>
            <a:ext cx="232486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 &amp; Project Sync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288018" y="2066544"/>
            <a:ext cx="2324862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5A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dashboard; uploads normalized project snapshots.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2894076" y="25603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/ intent   </a:t>
            </a:r>
            <a:pPr algn="ctr" indent="0" marL="0">
              <a:buNone/>
            </a:pPr>
            <a:r>
              <a:rPr lang="en-US" sz="95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 ↑    </a:t>
            </a:r>
            <a:pPr algn="ctr" indent="0" marL="0">
              <a:buNone/>
            </a:pPr>
            <a:r>
              <a:rPr lang="en-US" sz="95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findings · fixes · verdicts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74320" y="2999232"/>
            <a:ext cx="11640312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7780">
            <a:solidFill>
              <a:srgbClr val="5B4BE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4320" y="2999232"/>
            <a:ext cx="530352" cy="1783080"/>
          </a:xfrm>
          <a:prstGeom prst="roundRect">
            <a:avLst>
              <a:gd name="adj" fmla="val 17241"/>
            </a:avLst>
          </a:prstGeom>
          <a:solidFill>
            <a:srgbClr val="5B4BE0"/>
          </a:solidFill>
          <a:ln/>
        </p:spPr>
      </p:sp>
      <p:sp>
        <p:nvSpPr>
          <p:cNvPr id="31" name="Shape 29"/>
          <p:cNvSpPr/>
          <p:nvPr/>
        </p:nvSpPr>
        <p:spPr>
          <a:xfrm>
            <a:off x="694944" y="2999232"/>
            <a:ext cx="109728" cy="1783080"/>
          </a:xfrm>
          <a:prstGeom prst="rect">
            <a:avLst/>
          </a:prstGeom>
          <a:solidFill>
            <a:srgbClr val="5B4BE0"/>
          </a:solidFill>
          <a:ln/>
        </p:spPr>
      </p:sp>
      <p:sp>
        <p:nvSpPr>
          <p:cNvPr id="32" name="Text 30"/>
          <p:cNvSpPr/>
          <p:nvPr/>
        </p:nvSpPr>
        <p:spPr>
          <a:xfrm rot="16200000">
            <a:off x="-342900" y="3616452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PROCESSING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932688" y="3127248"/>
            <a:ext cx="2013509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DDE2E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51560" y="3218688"/>
            <a:ext cx="177576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Manager Agent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051560" y="3694176"/>
            <a:ext cx="1775765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5A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Dependency graph, file bundling, orchestration, result aggregation.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129077" y="3127248"/>
            <a:ext cx="2013509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DDE2E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47949" y="3218688"/>
            <a:ext cx="177576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Intent Classifier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247949" y="3694176"/>
            <a:ext cx="1775765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5A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Routes conversational query; assessment only · assessment → remediation.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5325466" y="3127248"/>
            <a:ext cx="2013509" cy="1527048"/>
          </a:xfrm>
          <a:prstGeom prst="roundRect">
            <a:avLst>
              <a:gd name="adj" fmla="val 4192"/>
            </a:avLst>
          </a:prstGeom>
          <a:solidFill>
            <a:srgbClr val="FFFFFF"/>
          </a:solidFill>
          <a:ln w="12700">
            <a:solidFill>
              <a:srgbClr val="DDE2E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44338" y="3218688"/>
            <a:ext cx="177576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 Applicability Engine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444338" y="3694176"/>
            <a:ext cx="1775765" cy="886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5A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Instruments source → renders live app (Chromium) → detects DOM artifacts → maps to source lines via applicability catalog (static / conditional checks) + captures evidence screenshots.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7521854" y="3127248"/>
            <a:ext cx="2013509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DDE2E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640726" y="3218688"/>
            <a:ext cx="177576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Worker Agents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640726" y="3694176"/>
            <a:ext cx="1775765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5A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Applicability-grounded WCAG audit &amp; content aware fix generation per bundle.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9718243" y="3127248"/>
            <a:ext cx="2013509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DDE2E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837115" y="3218688"/>
            <a:ext cx="177576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Style Intelligence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9837115" y="3694176"/>
            <a:ext cx="1775765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5A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 context + live contrast-ratio analysis of rendered artifacts.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932688" y="4261104"/>
            <a:ext cx="2013509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DE2E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051560" y="4306824"/>
            <a:ext cx="1830629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WCAG 2.2 Knowledge Base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1051560" y="4489704"/>
            <a:ext cx="1794053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5A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 catalog by conformance level, embedded into audit &amp; fix prompts.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2894076" y="481888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calls   </a:t>
            </a:r>
            <a:pPr algn="ctr" indent="0" marL="0">
              <a:buNone/>
            </a:pPr>
            <a:r>
              <a:rPr lang="en-US" sz="95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 ↑    </a:t>
            </a:r>
            <a:pPr algn="ctr" indent="0" marL="0">
              <a:buNone/>
            </a:pPr>
            <a:r>
              <a:rPr lang="en-US" sz="95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(via proxy)    verified responses · budget state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274320" y="5285232"/>
            <a:ext cx="11640312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7780">
            <a:solidFill>
              <a:srgbClr val="1F7A6E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74320" y="5285232"/>
            <a:ext cx="530352" cy="1554480"/>
          </a:xfrm>
          <a:prstGeom prst="roundRect">
            <a:avLst>
              <a:gd name="adj" fmla="val 17241"/>
            </a:avLst>
          </a:prstGeom>
          <a:solidFill>
            <a:srgbClr val="1F7A6E"/>
          </a:solidFill>
          <a:ln/>
        </p:spPr>
      </p:sp>
      <p:sp>
        <p:nvSpPr>
          <p:cNvPr id="54" name="Shape 52"/>
          <p:cNvSpPr/>
          <p:nvPr/>
        </p:nvSpPr>
        <p:spPr>
          <a:xfrm>
            <a:off x="694944" y="5285232"/>
            <a:ext cx="109728" cy="1554480"/>
          </a:xfrm>
          <a:prstGeom prst="rect">
            <a:avLst/>
          </a:prstGeom>
          <a:solidFill>
            <a:srgbClr val="1F7A6E"/>
          </a:solidFill>
          <a:ln/>
        </p:spPr>
      </p:sp>
      <p:sp>
        <p:nvSpPr>
          <p:cNvPr id="55" name="Text 53"/>
          <p:cNvSpPr/>
          <p:nvPr/>
        </p:nvSpPr>
        <p:spPr>
          <a:xfrm rot="16200000">
            <a:off x="-228600" y="5788152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</a:t>
            </a:r>
            <a:endParaRPr lang="en-US" sz="1150" dirty="0"/>
          </a:p>
        </p:txBody>
      </p:sp>
      <p:sp>
        <p:nvSpPr>
          <p:cNvPr id="56" name="Shape 54"/>
          <p:cNvSpPr/>
          <p:nvPr/>
        </p:nvSpPr>
        <p:spPr>
          <a:xfrm>
            <a:off x="932688" y="5413248"/>
            <a:ext cx="2562606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2700">
            <a:solidFill>
              <a:srgbClr val="DDE2E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051560" y="5504688"/>
            <a:ext cx="232486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/ Proxy Server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1051560" y="5980176"/>
            <a:ext cx="232486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5A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Sessions, API key management, request routing, rate limiting &amp; cost control.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3678174" y="5413248"/>
            <a:ext cx="2562606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2700">
            <a:solidFill>
              <a:srgbClr val="DDE2E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797046" y="5504688"/>
            <a:ext cx="232486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 Service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3797046" y="5980176"/>
            <a:ext cx="232486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5A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6-signal verification of every LLM rationale (TF-IDF, keyword, technique, negation, concept, specificity) + fabricated-ID / coherence / misattribution checks → accept / review / reject.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6423660" y="5413248"/>
            <a:ext cx="2562606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2700">
            <a:solidFill>
              <a:srgbClr val="DDE2E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542532" y="5504688"/>
            <a:ext cx="232486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6542532" y="5980176"/>
            <a:ext cx="232486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5A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Per-user audit &amp; fix budgets, consumption counters, stop-on-quota-exceed enforcement.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9169146" y="5413248"/>
            <a:ext cx="2562606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2700">
            <a:solidFill>
              <a:srgbClr val="DDE2E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9288018" y="5504688"/>
            <a:ext cx="232486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Dashboard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9288018" y="5980176"/>
            <a:ext cx="232486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5A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Usage, performance, analysis activity &amp; per-user governance state.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8805672" y="6894576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EAF6F4"/>
          </a:solidFill>
          <a:ln w="13970">
            <a:solidFill>
              <a:srgbClr val="1F7A6E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8805672" y="6894576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7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External LLM (GPT-4o / Azure OpenAI)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2894076" y="69311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   </a:t>
            </a:r>
            <a:pPr algn="ctr" indent="0" marL="0">
              <a:buNone/>
            </a:pPr>
            <a:r>
              <a:rPr lang="en-US" sz="95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 ↑    </a:t>
            </a:r>
            <a:pPr algn="ctr" indent="0" marL="0">
              <a:buNone/>
            </a:pPr>
            <a:r>
              <a:rPr lang="en-US" sz="95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reuse cache · snapshots · audit trail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274320" y="7242048"/>
            <a:ext cx="11640312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7780">
            <a:solidFill>
              <a:srgbClr val="3C4859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74320" y="7242048"/>
            <a:ext cx="530352" cy="1417320"/>
          </a:xfrm>
          <a:prstGeom prst="roundRect">
            <a:avLst>
              <a:gd name="adj" fmla="val 17241"/>
            </a:avLst>
          </a:prstGeom>
          <a:solidFill>
            <a:srgbClr val="3C4859"/>
          </a:solidFill>
          <a:ln/>
        </p:spPr>
      </p:sp>
      <p:sp>
        <p:nvSpPr>
          <p:cNvPr id="73" name="Shape 71"/>
          <p:cNvSpPr/>
          <p:nvPr/>
        </p:nvSpPr>
        <p:spPr>
          <a:xfrm>
            <a:off x="694944" y="7242048"/>
            <a:ext cx="109728" cy="1417320"/>
          </a:xfrm>
          <a:prstGeom prst="rect">
            <a:avLst/>
          </a:prstGeom>
          <a:solidFill>
            <a:srgbClr val="3C4859"/>
          </a:solidFill>
          <a:ln/>
        </p:spPr>
      </p:sp>
      <p:sp>
        <p:nvSpPr>
          <p:cNvPr id="74" name="Text 72"/>
          <p:cNvSpPr/>
          <p:nvPr/>
        </p:nvSpPr>
        <p:spPr>
          <a:xfrm rot="16200000">
            <a:off x="-160020" y="7676388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150" dirty="0"/>
          </a:p>
        </p:txBody>
      </p:sp>
      <p:sp>
        <p:nvSpPr>
          <p:cNvPr id="75" name="Shape 73"/>
          <p:cNvSpPr/>
          <p:nvPr/>
        </p:nvSpPr>
        <p:spPr>
          <a:xfrm>
            <a:off x="932688" y="7370064"/>
            <a:ext cx="2562606" cy="1161288"/>
          </a:xfrm>
          <a:prstGeom prst="roundRect">
            <a:avLst>
              <a:gd name="adj" fmla="val 5512"/>
            </a:avLst>
          </a:prstGeom>
          <a:solidFill>
            <a:srgbClr val="FFFFFF"/>
          </a:solidFill>
          <a:ln w="12700">
            <a:solidFill>
              <a:srgbClr val="DDE2EA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1051560" y="7461504"/>
            <a:ext cx="232486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Workspace Cache (.codea11y)</a:t>
            </a:r>
            <a:endParaRPr lang="en-US" sz="1100" dirty="0"/>
          </a:p>
        </p:txBody>
      </p:sp>
      <p:sp>
        <p:nvSpPr>
          <p:cNvPr id="77" name="Text 75"/>
          <p:cNvSpPr/>
          <p:nvPr/>
        </p:nvSpPr>
        <p:spPr>
          <a:xfrm>
            <a:off x="1051560" y="7936992"/>
            <a:ext cx="2324862" cy="521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5A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Issues, fixes, ignored, fix-review state, runtime-applicability JSON; enables incremental analysis.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3678174" y="7370064"/>
            <a:ext cx="2562606" cy="1161288"/>
          </a:xfrm>
          <a:prstGeom prst="roundRect">
            <a:avLst>
              <a:gd name="adj" fmla="val 5512"/>
            </a:avLst>
          </a:prstGeom>
          <a:solidFill>
            <a:srgbClr val="FFFFFF"/>
          </a:solidFill>
          <a:ln w="12700">
            <a:solidFill>
              <a:srgbClr val="DDE2EA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797046" y="7461504"/>
            <a:ext cx="232486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(PostgreSQL / SQLite)</a:t>
            </a:r>
            <a:endParaRPr lang="en-US" sz="1100" dirty="0"/>
          </a:p>
        </p:txBody>
      </p:sp>
      <p:sp>
        <p:nvSpPr>
          <p:cNvPr id="80" name="Text 78"/>
          <p:cNvSpPr/>
          <p:nvPr/>
        </p:nvSpPr>
        <p:spPr>
          <a:xfrm>
            <a:off x="3797046" y="7936992"/>
            <a:ext cx="2324862" cy="521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5A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Users, sessions, governance counters, LLM call logs, audit logs.</a:t>
            </a:r>
            <a:endParaRPr lang="en-US" sz="850" dirty="0"/>
          </a:p>
        </p:txBody>
      </p:sp>
      <p:sp>
        <p:nvSpPr>
          <p:cNvPr id="81" name="Shape 79"/>
          <p:cNvSpPr/>
          <p:nvPr/>
        </p:nvSpPr>
        <p:spPr>
          <a:xfrm>
            <a:off x="6423660" y="7370064"/>
            <a:ext cx="2562606" cy="1161288"/>
          </a:xfrm>
          <a:prstGeom prst="roundRect">
            <a:avLst>
              <a:gd name="adj" fmla="val 5512"/>
            </a:avLst>
          </a:prstGeom>
          <a:solidFill>
            <a:srgbClr val="FFFFFF"/>
          </a:solidFill>
          <a:ln w="12700">
            <a:solidFill>
              <a:srgbClr val="DDE2EA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542532" y="7461504"/>
            <a:ext cx="232486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Snapshots</a:t>
            </a:r>
            <a:endParaRPr lang="en-US" sz="1100" dirty="0"/>
          </a:p>
        </p:txBody>
      </p:sp>
      <p:sp>
        <p:nvSpPr>
          <p:cNvPr id="83" name="Text 81"/>
          <p:cNvSpPr/>
          <p:nvPr/>
        </p:nvSpPr>
        <p:spPr>
          <a:xfrm>
            <a:off x="6542532" y="7936992"/>
            <a:ext cx="2324862" cy="521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5A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Normalized, versioned per-file stats &amp; guardrail-flag distribution; privacy-preserving workspace fingerprint.</a:t>
            </a:r>
            <a:endParaRPr lang="en-US" sz="850" dirty="0"/>
          </a:p>
        </p:txBody>
      </p:sp>
      <p:sp>
        <p:nvSpPr>
          <p:cNvPr id="84" name="Shape 82"/>
          <p:cNvSpPr/>
          <p:nvPr/>
        </p:nvSpPr>
        <p:spPr>
          <a:xfrm>
            <a:off x="9169146" y="7370064"/>
            <a:ext cx="2562606" cy="1161288"/>
          </a:xfrm>
          <a:prstGeom prst="roundRect">
            <a:avLst>
              <a:gd name="adj" fmla="val 5512"/>
            </a:avLst>
          </a:prstGeom>
          <a:solidFill>
            <a:srgbClr val="FFFFFF"/>
          </a:solidFill>
          <a:ln w="12700">
            <a:solidFill>
              <a:srgbClr val="DDE2EA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9288018" y="7461504"/>
            <a:ext cx="232486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&amp; Audit Trail</a:t>
            </a:r>
            <a:endParaRPr lang="en-US" sz="1100" dirty="0"/>
          </a:p>
        </p:txBody>
      </p:sp>
      <p:sp>
        <p:nvSpPr>
          <p:cNvPr id="86" name="Text 84"/>
          <p:cNvSpPr/>
          <p:nvPr/>
        </p:nvSpPr>
        <p:spPr>
          <a:xfrm>
            <a:off x="9288018" y="7936992"/>
            <a:ext cx="2324862" cy="521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5A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detection, fix, verdict &amp; human decision → user &amp; admin dashboards; audit-ready compliance.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2026-06-05T05:27:16Z</dcterms:created>
  <dcterms:modified xsi:type="dcterms:W3CDTF">2026-06-05T05:27:16Z</dcterms:modified>
</cp:coreProperties>
</file>